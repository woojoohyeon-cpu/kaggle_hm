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Private LB スコア</c:v>
                </c:pt>
              </c:strCache>
            </c:strRef>
          </c:tx>
          <c:spPr>
            <a:solidFill>
              <a:srgbClr val="71717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171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1620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8181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ベースライン
(ルールのみ)</c:v>
                  </c:pt>
                  <c:pt idx="1">
                    <c:v>今回の到達点</c:v>
                  </c:pt>
                  <c:pt idx="2">
                    <c:v>銅メダル圏
ボーダー</c:v>
                  </c:pt>
                  <c:pt idx="3">
                    <c:v>銀メダル圏
ボーダー</c:v>
                  </c:pt>
                  <c:pt idx="4">
                    <c:v>1位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0.02013</c:v>
                </c:pt>
                <c:pt idx="1">
                  <c:v>0.02572</c:v>
                </c:pt>
                <c:pt idx="2">
                  <c:v>0.02517</c:v>
                </c:pt>
                <c:pt idx="3">
                  <c:v>0.03345</c:v>
                </c:pt>
                <c:pt idx="4">
                  <c:v>0.03792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272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2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42"/>
          <c:min val="0"/>
        </c:scaling>
        <c:delete val="0"/>
        <c:axPos val="l"/>
        <c:majorGridlines>
          <c:spPr>
            <a:ln w="1270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Recall@12（単体）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自己リピート</c:v>
                  </c:pt>
                  <c:pt idx="1">
                    <c:v>B トレンド人気</c:v>
                  </c:pt>
                  <c:pt idx="2">
                    <c:v>C 同カテゴリ/同色</c:v>
                  </c:pt>
                  <c:pt idx="3">
                    <c:v>E アイテム共起</c:v>
                  </c:pt>
                  <c:pt idx="4">
                    <c:v>D 協調フィルタ(ALS)</c:v>
                  </c:pt>
                  <c:pt idx="5">
                    <c:v>F テキスト類似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0.0405</c:v>
                </c:pt>
                <c:pt idx="1">
                  <c:v>0.0255</c:v>
                </c:pt>
                <c:pt idx="2">
                  <c:v>0.0211</c:v>
                </c:pt>
                <c:pt idx="3">
                  <c:v>0.0172</c:v>
                </c:pt>
                <c:pt idx="4">
                  <c:v>0.0168</c:v>
                </c:pt>
                <c:pt idx="5">
                  <c:v>0.0098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272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2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"/>
        </c:scaling>
        <c:delete val="0"/>
        <c:axPos val="b"/>
        <c:majorGridlines>
          <c:spPr>
            <a:ln w="1270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0.0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7272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STEP 1
ルールベース</c:v>
                  </c:pt>
                  <c:pt idx="1">
                    <c:v>STEP 2
2段構成</c:v>
                  </c:pt>
                  <c:pt idx="2">
                    <c:v>STEP 3
候補追加+多週</c:v>
                  </c:pt>
                  <c:pt idx="3">
                    <c:v>STEP 4
Optuna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0.02527</c:v>
                </c:pt>
                <c:pt idx="2">
                  <c:v>0.02556</c:v>
                </c:pt>
                <c:pt idx="3">
                  <c:v>0.0257</c:v>
                </c:pt>
              </c:numCache>
            </c:numRef>
          </c:val>
          <c:smooth val="0"/>
        </c:ser>
        <c:dLbls>
          <c:numFmt formatCode="0.00000" sourceLinked="0"/>
          <c:txPr>
            <a:bodyPr/>
            <a:lstStyle/>
            <a:p>
              <a:pPr>
                <a:defRPr b="0" i="0" strike="noStrike" sz="1100" u="none">
                  <a:solidFill>
                    <a:srgbClr val="27272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2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75"/>
          <c:min val="0.018"/>
        </c:scaling>
        <c:delete val="0"/>
        <c:axPos val="l"/>
        <c:majorGridlines>
          <c:spPr>
            <a:ln w="1270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H&amp;Mの推薦コンペに個人で取り組んだ記録。ベースラインから最終スコアまでで約+28%改善しました。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2年分の購買履歴から、顧客ごとに次に買う商品12個を当てるコンペ。全部の組み合わせは計算できないので、候補を絞ってから並べ替える設計が肝になります。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銅メダルのボーダーはぎりぎり超えたが、銀は現状の1.3倍。チューニングの積み上げでは届かない距離です。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機械学習を使わないルールだけで0.02000。ここが全ての基準線になります。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先に候補ソース単体の実力を測り、投資順を決めました。リピート系が圧倒的に強く、テキスト類似は最弱だったので後回しにしています。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枠組みを変えたSTEP2で+26%。そこから先の調整は1%前後で、明らかに頭打ちになっています。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伸びの大半は枠組みを変えた一手から来ています。細かい調整はもう効きにくい段階です。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次の一手は商品画像の活用。テキストより情報量が多く、まだ完全に手つかずの領域です。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C8102E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C8102E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RECOMMENDER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H&amp;M パーソナライズド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ファッション推薦コンペ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候補生成 × ランキングモデルの2段構成でどこまで伸ばせたか — 取り組みの全記録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0.02570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5413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最終スコア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 LB)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4709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11880" y="5413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ベースライン比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709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段階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5413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実施した改善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 / juli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何を解くコンペか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Group が Kaggle 上で開催した商品推薦コンペ。2年分の購買履歴・顧客属性・商品メタデータ（説明文・画像）から、顧客1人ひとりに「次の1週間で買いそうな商品12個」を予測する。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3410712" cy="2084832"/>
          </a:xfrm>
          <a:prstGeom prst="roundRect">
            <a:avLst>
              <a:gd name="adj" fmla="val 43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23744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551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03580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全顧客 約137万人 に対し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商品12個をランキングして提出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10万点以上のカタログから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12枠を選ぶ = 絞り込みが必須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267712"/>
            <a:ext cx="3410712" cy="2084832"/>
          </a:xfrm>
          <a:prstGeom prst="roundRect">
            <a:avLst>
              <a:gd name="adj" fmla="val 43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2523744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551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81144" y="303580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 / 顧客 / 商品 / 商品画像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2018-09 〜 2020-09 の2年分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81144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前処理もパイプライン設計も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すべて自前で組む必要がある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10144" y="2267712"/>
            <a:ext cx="3410712" cy="2084832"/>
          </a:xfrm>
          <a:prstGeom prst="roundRect">
            <a:avLst>
              <a:gd name="adj" fmla="val 43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2523744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59952" y="2551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評価指標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66176" y="303580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MAP@12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上位に正解をどれだけ集められたか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66176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正解が上位にあるほど高得点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スコアの絶対値は小さくなる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7914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難しさは「精度」より「設計」にある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523036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137万人 × 10万商品 の全組み合わせは計算不可能。「候補を数十件に絞る」→「その中で並べ替える」の2段構成にたどり着けるかどうかが、そのままスコア差になる。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479145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約2,900</a:t>
            </a:r>
            <a:endParaRPr lang="en-US" sz="26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チームが参加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到達目標と、いまの立ち位置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MAP@12 は絶対値が小さく「0.025」と言われても大小がわからない。他参加者のスコアと並べて初めて意味が出る。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11680"/>
            <a:ext cx="3730752" cy="1920240"/>
          </a:xfrm>
          <a:prstGeom prst="roundRect">
            <a:avLst>
              <a:gd name="adj" fmla="val 4762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2231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到達目標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銅メダル圏内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9244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上位10%相当（0.02517以上）。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 0.02572 で、ボーダーは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わずかに上回った。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18120" y="4114800"/>
            <a:ext cx="3730752" cy="2057400"/>
          </a:xfrm>
          <a:prstGeom prst="roundRect">
            <a:avLst>
              <a:gd name="adj" fmla="val 4444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92440" y="4334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92440" y="4645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銀まで +30%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92440" y="5120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0.03345 は現状の1.3倍。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パラメータ調整の延長では届かず、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情報そのものを足す必要がある。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まず「機械学習なし」で基準線を引く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いきなりモデルを組まず、単純なルールだけで提出してスコア感覚をつかむ。以降の改善はすべてこの線との差分で語れるようになる。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720840" cy="22860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286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ルールは2つだけ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32688" y="27889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798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自分がまた買う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4752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過去に買った商品を、直近購入日→頻度の順に再提示する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356616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3575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足りない枠は流行で埋める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3886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直近7日で売れている商品のトップNを、全員に同じ順で追加する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2057400"/>
            <a:ext cx="3913632" cy="2286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36992" y="2286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ベースライン結果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36992" y="261518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0.02000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936992" y="3401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LB / 手元の検証では MAP@12 = 0.0248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36992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1位の約53%の水準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53712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754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ここでわかったこと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2688" y="51023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リピート購入だけで正解の約4%は当たる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一方で残り96%は取りこぼす — 「何を候補に入れるか」が上限を決めている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以降の改善方針は「候補を増やす」と「候補の並べ方を学習する」の2軸に定まった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PRIORITIZATION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EDAで「どこを触ると効くか」を先に決める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候補ソースを6種類つくり、それぞれ単体でどれだけ正解を拾えるか（Recall@12）を測ってから、実装の順番を決めた。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975104"/>
            <a:ext cx="4279392" cy="1170432"/>
          </a:xfrm>
          <a:prstGeom prst="roundRect">
            <a:avLst>
              <a:gd name="adj" fmla="val 781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4380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リピート系を厚く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43800" y="27066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単体で最強のA（0.0405）を軸に、関連特徴量（過去購入回数・経過日数）を最優先で作る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3291840"/>
            <a:ext cx="4279392" cy="1170432"/>
          </a:xfrm>
          <a:prstGeom prst="roundRect">
            <a:avLst>
              <a:gd name="adj" fmla="val 781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次点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43800" y="3694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弱い候補も「足す」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43800" y="40233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B〜Eは単体では弱いが、重なりが少ないため結合するとRecall上限が0.088まで伸びる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69480" y="4608576"/>
            <a:ext cx="4279392" cy="1170432"/>
          </a:xfrm>
          <a:prstGeom prst="roundRect">
            <a:avLst>
              <a:gd name="adj" fmla="val 781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43800" y="4754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後回し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43800" y="5010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テキスト・画像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43800" y="53400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F（テキスト類似）は単体最弱の0.0098。計算コストに見合わないと判断し保留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269480" y="5870448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6ソースすべてを結合したときの Recall@12 上限は 0.0933。候補側の天井はまだ遠く、当面はモデル側に伸びしろがあると判断した。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実施した順に、何をして何が起きたか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78608" cy="3794760"/>
          </a:xfrm>
          <a:prstGeom prst="roundRect">
            <a:avLst>
              <a:gd name="adj" fmla="val 354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ルールベース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ハイブリッド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0540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自己リピート → 流行商品で穴埋め。機械学習なし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0.02000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4645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956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前段階との差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3456432"/>
            <a:ext cx="146304" cy="274320"/>
          </a:xfrm>
          <a:prstGeom prst="rightArrow">
            <a:avLst/>
          </a:prstGeom>
          <a:solidFill>
            <a:srgbClr val="D4D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1691640"/>
            <a:ext cx="2578608" cy="3794760"/>
          </a:xfrm>
          <a:prstGeom prst="roundRect">
            <a:avLst>
              <a:gd name="adj" fmla="val 3546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94176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2段構成の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94176" y="30540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候補4ソース × 学習2週。LightGBM Ranker で並べ替え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94176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0.02527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94176" y="4645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+26.4%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94176" y="4956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前段階からの伸び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3456432"/>
            <a:ext cx="146304" cy="274320"/>
          </a:xfrm>
          <a:prstGeom prst="rightArrow">
            <a:avLst/>
          </a:prstGeom>
          <a:solidFill>
            <a:srgbClr val="D4D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691640"/>
            <a:ext cx="2578608" cy="3794760"/>
          </a:xfrm>
          <a:prstGeom prst="roundRect">
            <a:avLst>
              <a:gd name="adj" fmla="val 354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候補追加 +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学習週の拡張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30540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アイテム共起を追加し5ソースへ。学習を2週→4週に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0.02556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2240" y="4645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956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前段階からの伸び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69680" y="3456432"/>
            <a:ext cx="146304" cy="274320"/>
          </a:xfrm>
          <a:prstGeom prst="rightArrow">
            <a:avLst/>
          </a:prstGeom>
          <a:solidFill>
            <a:srgbClr val="D4D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2" y="1691640"/>
            <a:ext cx="2578608" cy="3794760"/>
          </a:xfrm>
          <a:prstGeom prst="roundRect">
            <a:avLst>
              <a:gd name="adj" fmla="val 354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90304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90304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ハイパラ探索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290304" y="30540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20試行でランキングモデルを調整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90304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 0.02570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90304" y="4645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90304" y="4956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前段階からの伸び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最大の伸びはSTEP 2の一度きり。以降は同じ枠組みの中の微調整で、1回あたり1%前後まで縮んだ（＝収穫逓減）。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スコアの伸び方が示していること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685032" cy="3246120"/>
          </a:xfrm>
          <a:prstGeom prst="roundRect">
            <a:avLst>
              <a:gd name="adj" fmla="val 2817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56448" y="1828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読み取れること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56448" y="22402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枠組みを変えた1回（STEP 2）が伸びの大半を占める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同じ枠組み内の追加・調整は1%前後に減衰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手元の検証スコアとLBの動きは方向が一致しており、検証設計自体は信頼できる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5047488"/>
            <a:ext cx="3410712" cy="109728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0.0933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5650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6ソース結合時のRecall上限。まだ使い切れていない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5047488"/>
            <a:ext cx="3410712" cy="109728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81144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81144" y="5650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候補のうち実際に買われる割合。極端な不均衡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10144" y="5047488"/>
            <a:ext cx="3410712" cy="109728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66176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16GB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66176" y="5650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作業マシンの実メモリ。8,000万行の処理が制約に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C8102E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次にやること と 残っている課題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微調整では銀メダル圏（+30%）に届かない。使っていない情報を足す方向へ切り替える。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商品画像を使う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26464" y="2505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最有力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0" y="21214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5千枚の商品画像はまだ完全に未使用。学習済みCNNで画像の特徴ベクトルを取り、「見た目が似ている商品」を候補と特徴量の両方に足す。テキストより情報量が多く、色・柄・シルエットを直接扱えるのが利点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55480" y="212140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計算コストが最大の障壁。まず数千枚規模で試し、効果を確認してから全件に広げる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2044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6464" y="3447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テキスト類似(F)を本番に統合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26464" y="3831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着手可能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0" y="34472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監査済みだが未接続のまま。結合するとRecall上限が0.088→0.093に伸びることは確認済み。パイプラインを通しで1時間強再実行すれば反映できる。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55480" y="34472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単体では最弱。伸びは限定的と見込む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590288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846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773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2つのモデルを組み合わせる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26464" y="5157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低コスト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ランキングモデルと分類モデルはスコアがほぼ並んだ（0.0332 / 0.0307）。性質が違うため、予測を混ぜると安定して上振れする可能性がある。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55480" y="4773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まだ一度も試していない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96188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残る課題：検証は2020年8〜9月の1期間のみで、季節が変わっても同じ精度が出るかは未確認。また学習の打ち切り判断と精度評価に同じデータを使っているため、報告値はやや楽観的な可能性がある。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H&amp;M Personalized Fashion Recommendations</dc:title>
  <dc:subject>PptxGenJS Presentation</dc:subject>
  <dc:creator>juli</dc:creator>
  <cp:lastModifiedBy>juli</cp:lastModifiedBy>
  <cp:revision>1</cp:revision>
  <dcterms:created xsi:type="dcterms:W3CDTF">2026-08-15T13:30:30Z</dcterms:created>
  <dcterms:modified xsi:type="dcterms:W3CDTF">2026-08-15T13:30:30Z</dcterms:modified>
</cp:coreProperties>
</file>